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64" r:id="rId5"/>
    <p:sldId id="271" r:id="rId6"/>
    <p:sldId id="260" r:id="rId7"/>
    <p:sldId id="267" r:id="rId8"/>
    <p:sldId id="261" r:id="rId9"/>
    <p:sldId id="266" r:id="rId10"/>
    <p:sldId id="270" r:id="rId11"/>
    <p:sldId id="262" r:id="rId12"/>
    <p:sldId id="263" r:id="rId13"/>
  </p:sldIdLst>
  <p:sldSz cx="14630400" cy="8229600"/>
  <p:notesSz cx="8229600" cy="146304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Bold" panose="020F0502020204030203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11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ijsrst.technoscienceacademy.com/index.php/home/article/view/IJSRST2613101?utm_source=chatgpt.com" TargetMode="External"/><Relationship Id="rId3" Type="http://schemas.openxmlformats.org/officeDocument/2006/relationships/hyperlink" Target="https://www.nature.com/articles/s41598-022-10841-5?utm_source=chatgpt.com" TargetMode="External"/><Relationship Id="rId7" Type="http://schemas.openxmlformats.org/officeDocument/2006/relationships/hyperlink" Target="https://doaj.org/article/974b3357c7104210ba8ee692f383a4a7?utm_source=chatgpt.com" TargetMode="External"/><Relationship Id="rId2" Type="http://schemas.openxmlformats.org/officeDocument/2006/relationships/hyperlink" Target="https://www.researchgate.net/publication/367262735_A_Survey_of_Intelligent_Detection_Designs_of_HTML_URL_Phishing_Attacks?utm_source=chatgpt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mdpi.com/2504-4990/3/3/34?utm_source=chatgpt.com" TargetMode="External"/><Relationship Id="rId5" Type="http://schemas.openxmlformats.org/officeDocument/2006/relationships/hyperlink" Target="https://rjpn.org/ijnti/viewpaperforall.php?paper=IJNTI2505028&amp;utm_source=chatgpt.com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link.springer.com/article/10.1186/s13673-016-0064-3?utm_source=chatgpt.com" TargetMode="External"/><Relationship Id="rId9" Type="http://schemas.openxmlformats.org/officeDocument/2006/relationships/hyperlink" Target="https://eurekamag.com/research/100/239/100239012.php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1915" y="4114800"/>
            <a:ext cx="109447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  Smart Phishing URL Detection System</a:t>
            </a:r>
            <a:endParaRPr lang="en-US" sz="3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4DB1F-431E-1ECF-0FD9-E298F9E6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921" y="7162651"/>
            <a:ext cx="3429479" cy="1066949"/>
          </a:xfrm>
          <a:prstGeom prst="rect">
            <a:avLst/>
          </a:prstGeom>
        </p:spPr>
      </p:pic>
      <p:pic>
        <p:nvPicPr>
          <p:cNvPr id="9" name="Image 1">
            <a:extLst>
              <a:ext uri="{FF2B5EF4-FFF2-40B4-BE49-F238E27FC236}">
                <a16:creationId xmlns:a16="http://schemas.microsoft.com/office/drawing/2014/main" id="{B7BE7F31-D639-126C-12D2-F3E0D8303AA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632" y="239077"/>
            <a:ext cx="1111568" cy="10055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Image 2">
            <a:extLst>
              <a:ext uri="{FF2B5EF4-FFF2-40B4-BE49-F238E27FC236}">
                <a16:creationId xmlns:a16="http://schemas.microsoft.com/office/drawing/2014/main" id="{8B862FD3-1626-CECE-28DB-B0813161644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71500" y="239077"/>
            <a:ext cx="1112400" cy="100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D3A53D-2484-F470-D925-373B11A1B9AB}"/>
              </a:ext>
            </a:extLst>
          </p:cNvPr>
          <p:cNvSpPr/>
          <p:nvPr/>
        </p:nvSpPr>
        <p:spPr>
          <a:xfrm>
            <a:off x="2044700" y="557172"/>
            <a:ext cx="106107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VISVESVARAYA TECHNOLOGICAL UNIVERSITY, BELAGAVI</a:t>
            </a:r>
            <a:endParaRPr lang="en-IN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6C151-3370-84F1-E2D9-B86CE936C74D}"/>
              </a:ext>
            </a:extLst>
          </p:cNvPr>
          <p:cNvSpPr/>
          <p:nvPr/>
        </p:nvSpPr>
        <p:spPr>
          <a:xfrm>
            <a:off x="2044698" y="1676401"/>
            <a:ext cx="106107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B.L.D.E.A’s V.P.DR.P.G.HALAKATTI COLLEGE OF ENGINEERING AND TECHNOLOGY,VIJAYAPUR-586103</a:t>
            </a:r>
            <a:endParaRPr lang="en-IN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FF0ABD-A84E-6E2E-3A79-D16D1F104733}"/>
              </a:ext>
            </a:extLst>
          </p:cNvPr>
          <p:cNvSpPr/>
          <p:nvPr/>
        </p:nvSpPr>
        <p:spPr>
          <a:xfrm>
            <a:off x="4284563" y="2786558"/>
            <a:ext cx="62764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DEPARTMENT OF COMPUTER SCIENCE AND ENGINEERING </a:t>
            </a:r>
            <a:endParaRPr lang="en-I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AC6D0B-E4A7-2EDD-68FC-9BF2842F9FC6}"/>
              </a:ext>
            </a:extLst>
          </p:cNvPr>
          <p:cNvSpPr txBox="1"/>
          <p:nvPr/>
        </p:nvSpPr>
        <p:spPr>
          <a:xfrm>
            <a:off x="511542" y="7122056"/>
            <a:ext cx="2402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Guide</a:t>
            </a:r>
          </a:p>
          <a:p>
            <a:pPr algn="ctr"/>
            <a:r>
              <a:rPr lang="en-IN" dirty="0"/>
              <a:t>Mrs. Anupama Inamdar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EEF9E6-A0E9-AC5D-2826-24CF825A63B4}"/>
              </a:ext>
            </a:extLst>
          </p:cNvPr>
          <p:cNvSpPr txBox="1"/>
          <p:nvPr/>
        </p:nvSpPr>
        <p:spPr>
          <a:xfrm>
            <a:off x="11779943" y="7122056"/>
            <a:ext cx="1412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Co-ordinator</a:t>
            </a:r>
          </a:p>
          <a:p>
            <a:pPr algn="ctr"/>
            <a:r>
              <a:rPr lang="en-US" dirty="0"/>
              <a:t>S.R.Patil</a:t>
            </a:r>
          </a:p>
          <a:p>
            <a:pPr algn="ctr"/>
            <a:r>
              <a:rPr lang="en-US" dirty="0"/>
              <a:t>Dakshayani. I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98509"/>
              </p:ext>
            </p:extLst>
          </p:nvPr>
        </p:nvGraphicFramePr>
        <p:xfrm>
          <a:off x="4002265" y="5395929"/>
          <a:ext cx="6350000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/>
                        <a:t>Ahmadaraja</a:t>
                      </a:r>
                      <a:r>
                        <a:rPr lang="en-US" baseline="0" dirty="0"/>
                        <a:t> 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2BL24CS401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/>
                        <a:t>Amol 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2BL24CS402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/>
                        <a:t>Irfan 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2BL24CS406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D1A954F-3B42-FA4F-2CF4-F458001A13E6}"/>
              </a:ext>
            </a:extLst>
          </p:cNvPr>
          <p:cNvSpPr txBox="1"/>
          <p:nvPr/>
        </p:nvSpPr>
        <p:spPr>
          <a:xfrm flipH="1">
            <a:off x="4900502" y="3536618"/>
            <a:ext cx="440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PROJECT</a:t>
            </a:r>
            <a:r>
              <a:rPr lang="en-IN" b="1" dirty="0"/>
              <a:t> </a:t>
            </a:r>
            <a:r>
              <a:rPr lang="en-IN" sz="2000" b="1" dirty="0"/>
              <a:t>PHASE-I</a:t>
            </a:r>
            <a:r>
              <a:rPr lang="en-IN" b="1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033959"/>
              </p:ext>
            </p:extLst>
          </p:nvPr>
        </p:nvGraphicFramePr>
        <p:xfrm>
          <a:off x="1880754" y="1101436"/>
          <a:ext cx="10640292" cy="62119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40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795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INDEX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</a:t>
                      </a:r>
                      <a:r>
                        <a:rPr lang="en-US" baseline="0" dirty="0"/>
                        <a:t> </a:t>
                      </a:r>
                      <a:r>
                        <a:rPr lang="en-US" sz="1800" dirty="0"/>
                        <a:t>Overview</a:t>
                      </a:r>
                      <a:endParaRPr lang="en-IN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 </a:t>
                      </a:r>
                      <a:r>
                        <a:rPr lang="en-US" sz="1800" dirty="0"/>
                        <a:t>Literature Survey (URL Phishing Detection) 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3.</a:t>
                      </a:r>
                      <a:r>
                        <a:rPr lang="en-US" sz="1800" dirty="0"/>
                        <a:t> Problem Statements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4.</a:t>
                      </a:r>
                      <a:r>
                        <a:rPr lang="en-US" sz="1800" dirty="0"/>
                        <a:t> Objectives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5. </a:t>
                      </a:r>
                      <a:r>
                        <a:rPr lang="en-US" sz="1800" dirty="0"/>
                        <a:t>Drawbacks of Existing Research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6.</a:t>
                      </a:r>
                      <a:r>
                        <a:rPr lang="en-US" sz="1800" dirty="0"/>
                        <a:t> Proposed solution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7. </a:t>
                      </a:r>
                      <a:r>
                        <a:rPr lang="en-US" sz="1800" dirty="0"/>
                        <a:t>Workflow / System Flow/methodology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1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8. </a:t>
                      </a:r>
                      <a:r>
                        <a:rPr lang="en-US" sz="1800" dirty="0"/>
                        <a:t>Conclusion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0496" y="7791388"/>
            <a:ext cx="1705213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09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F017AAC-D05A-F0E1-E2DB-8641874B0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921" y="7162651"/>
            <a:ext cx="3429479" cy="10669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43DA67-F41E-EB1D-5472-650E1744A5D1}"/>
              </a:ext>
            </a:extLst>
          </p:cNvPr>
          <p:cNvSpPr txBox="1"/>
          <p:nvPr/>
        </p:nvSpPr>
        <p:spPr>
          <a:xfrm>
            <a:off x="748145" y="1160145"/>
            <a:ext cx="12863946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Overview</a:t>
            </a:r>
          </a:p>
          <a:p>
            <a:pPr>
              <a:buNone/>
            </a:pPr>
            <a:r>
              <a:rPr lang="en-IN" b="1" dirty="0"/>
              <a:t>Smart Phishing URL Detection System :-</a:t>
            </a:r>
            <a:r>
              <a:rPr lang="en-IN" dirty="0"/>
              <a:t> is a machine learning–based solution designed to identify and block malicious URLs in real-time. It </a:t>
            </a:r>
            <a:r>
              <a:rPr lang="en-IN" dirty="0" err="1"/>
              <a:t>analyz</a:t>
            </a:r>
            <a:r>
              <a:rPr lang="en-IN" dirty="0"/>
              <a:t> URL patterns, domain features, and suspicious </a:t>
            </a:r>
            <a:r>
              <a:rPr lang="en-IN" dirty="0" err="1"/>
              <a:t>behaviors</a:t>
            </a:r>
            <a:r>
              <a:rPr lang="en-IN" dirty="0"/>
              <a:t> to protect users from phishing attacks and data breaches.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sz="2400" b="1" dirty="0"/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Browser Security</a:t>
            </a:r>
            <a:r>
              <a:rPr lang="en-IN" dirty="0"/>
              <a:t> – Real-time protection while browsing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Email Filtering</a:t>
            </a:r>
            <a:r>
              <a:rPr lang="en-IN" dirty="0"/>
              <a:t> – Detects phishing links in emails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Banking Security</a:t>
            </a:r>
            <a:r>
              <a:rPr lang="en-IN" dirty="0"/>
              <a:t> – Secures financial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E-Commerce Platforms</a:t>
            </a:r>
            <a:r>
              <a:rPr lang="en-IN" dirty="0"/>
              <a:t> – Prevents fraudulent activities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Enterprise Systems</a:t>
            </a:r>
            <a:r>
              <a:rPr lang="en-IN" dirty="0"/>
              <a:t> – Protects organizational networks </a:t>
            </a:r>
          </a:p>
          <a:p>
            <a:pPr>
              <a:buNone/>
            </a:pPr>
            <a:br>
              <a:rPr lang="en-IN" dirty="0"/>
            </a:br>
            <a:endParaRPr lang="en-IN" sz="2400" dirty="0"/>
          </a:p>
          <a:p>
            <a:pPr>
              <a:buNone/>
            </a:pPr>
            <a:r>
              <a:rPr lang="en-IN" sz="2400" b="1" dirty="0"/>
              <a:t>Key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Machine Learning (ML)</a:t>
            </a:r>
            <a:r>
              <a:rPr lang="en-IN" dirty="0"/>
              <a:t> – Classifies URLs as safe or malicious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Artificial Intelligence (AI)</a:t>
            </a:r>
            <a:r>
              <a:rPr lang="en-IN" dirty="0"/>
              <a:t> – Improves detection over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URL Feature Extraction</a:t>
            </a:r>
            <a:r>
              <a:rPr lang="en-IN" dirty="0"/>
              <a:t> – </a:t>
            </a:r>
            <a:r>
              <a:rPr lang="en-IN" dirty="0" err="1"/>
              <a:t>Analyzes</a:t>
            </a:r>
            <a:r>
              <a:rPr lang="en-IN" dirty="0"/>
              <a:t> structure &amp;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Cybersecurity Techniques</a:t>
            </a:r>
            <a:r>
              <a:rPr lang="en-IN" dirty="0"/>
              <a:t> – Ensures safe user interaction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Web Technologies</a:t>
            </a:r>
            <a:r>
              <a:rPr lang="en-IN" dirty="0"/>
              <a:t> – Enables browser &amp; system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CC0943-129A-310C-7D97-9EBBF954E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62442"/>
              </p:ext>
            </p:extLst>
          </p:nvPr>
        </p:nvGraphicFramePr>
        <p:xfrm>
          <a:off x="1266294" y="789705"/>
          <a:ext cx="11531600" cy="6780128"/>
        </p:xfrm>
        <a:graphic>
          <a:graphicData uri="http://schemas.openxmlformats.org/drawingml/2006/table">
            <a:tbl>
              <a:tblPr firstRow="1" bandRow="1"/>
              <a:tblGrid>
                <a:gridCol w="1335504">
                  <a:extLst>
                    <a:ext uri="{9D8B030D-6E8A-4147-A177-3AD203B41FA5}">
                      <a16:colId xmlns:a16="http://schemas.microsoft.com/office/drawing/2014/main" val="64403953"/>
                    </a:ext>
                  </a:extLst>
                </a:gridCol>
                <a:gridCol w="1451728">
                  <a:extLst>
                    <a:ext uri="{9D8B030D-6E8A-4147-A177-3AD203B41FA5}">
                      <a16:colId xmlns:a16="http://schemas.microsoft.com/office/drawing/2014/main" val="2732820023"/>
                    </a:ext>
                  </a:extLst>
                </a:gridCol>
                <a:gridCol w="1348494">
                  <a:extLst>
                    <a:ext uri="{9D8B030D-6E8A-4147-A177-3AD203B41FA5}">
                      <a16:colId xmlns:a16="http://schemas.microsoft.com/office/drawing/2014/main" val="4079636607"/>
                    </a:ext>
                  </a:extLst>
                </a:gridCol>
                <a:gridCol w="1591974">
                  <a:extLst>
                    <a:ext uri="{9D8B030D-6E8A-4147-A177-3AD203B41FA5}">
                      <a16:colId xmlns:a16="http://schemas.microsoft.com/office/drawing/2014/main" val="723766924"/>
                    </a:ext>
                  </a:extLst>
                </a:gridCol>
                <a:gridCol w="1159020">
                  <a:extLst>
                    <a:ext uri="{9D8B030D-6E8A-4147-A177-3AD203B41FA5}">
                      <a16:colId xmlns:a16="http://schemas.microsoft.com/office/drawing/2014/main" val="1108752669"/>
                    </a:ext>
                  </a:extLst>
                </a:gridCol>
                <a:gridCol w="1375497">
                  <a:extLst>
                    <a:ext uri="{9D8B030D-6E8A-4147-A177-3AD203B41FA5}">
                      <a16:colId xmlns:a16="http://schemas.microsoft.com/office/drawing/2014/main" val="2145920646"/>
                    </a:ext>
                  </a:extLst>
                </a:gridCol>
                <a:gridCol w="1375497">
                  <a:extLst>
                    <a:ext uri="{9D8B030D-6E8A-4147-A177-3AD203B41FA5}">
                      <a16:colId xmlns:a16="http://schemas.microsoft.com/office/drawing/2014/main" val="2510056395"/>
                    </a:ext>
                  </a:extLst>
                </a:gridCol>
                <a:gridCol w="1893886">
                  <a:extLst>
                    <a:ext uri="{9D8B030D-6E8A-4147-A177-3AD203B41FA5}">
                      <a16:colId xmlns:a16="http://schemas.microsoft.com/office/drawing/2014/main" val="137299246"/>
                    </a:ext>
                  </a:extLst>
                </a:gridCol>
              </a:tblGrid>
              <a:tr h="498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 err="1">
                          <a:solidFill>
                            <a:srgbClr val="FF0000"/>
                          </a:solidFill>
                        </a:rPr>
                        <a:t>S.No</a:t>
                      </a:r>
                      <a:endParaRPr lang="en-IN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Author(s)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Year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Paper Title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Journal / Conference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Method / Model Used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Reported Accuracy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Key Limitation / Drawback</a:t>
                      </a:r>
                    </a:p>
                  </a:txBody>
                  <a:tcPr marL="35519" marR="35519" marT="17759" marB="1775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86613"/>
                  </a:ext>
                </a:extLst>
              </a:tr>
              <a:tr h="730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1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i-FI" sz="1200" b="1" dirty="0"/>
                        <a:t>Sultan Asiri, Yang Xiao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2023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 Survey of Intelligent Detection Designs of HTML URL Phishing Attacks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IEEE Access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Deep Learning, Feature Extraction, Hybrid Models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High accuracy across DL models (~95%+)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Complex models, high computation cost (</a:t>
                      </a:r>
                      <a:r>
                        <a:rPr lang="en-US" sz="1200" b="1" dirty="0">
                          <a:hlinkClick r:id="rId2" tooltip="(PDF) A Survey of Intelligent Detection Designs of HTML URL Phishing Attacks"/>
                        </a:rPr>
                        <a:t>ResearchGate</a:t>
                      </a:r>
                      <a:r>
                        <a:rPr lang="en-US" sz="1200" b="1" dirty="0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06772"/>
                  </a:ext>
                </a:extLst>
              </a:tr>
              <a:tr h="556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Ali Aljofey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Detection Approach for Phishing Websites using URL &amp; HTML Features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Scientific Reports (Nature)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URL + HTML feature-based ML model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~97% detection accuracy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Requires large dataset, feature dependency (</a:t>
                      </a:r>
                      <a:r>
                        <a:rPr lang="en-US" sz="1200" b="1">
                          <a:hlinkClick r:id="rId3" tooltip="An effective detection approach for phishing websites using URL and HTML features | Scientific Reports"/>
                        </a:rPr>
                        <a:t>Nature</a:t>
                      </a:r>
                      <a:r>
                        <a:rPr lang="en-US" sz="1200" b="1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611184"/>
                  </a:ext>
                </a:extLst>
              </a:tr>
              <a:tr h="730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3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S. Carolin Jeeva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Intelligent Phishing URL Detection using Association Rule Mining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Springer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Association Rule Mining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detection efficiency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Less effective for new/unseen attacks (</a:t>
                      </a:r>
                      <a:r>
                        <a:rPr lang="en-US" sz="1200" b="1">
                          <a:hlinkClick r:id="rId4" tooltip="Intelligent phishing url detection using association rule mining | Human-centric Computing and Information Sciences | Springer Nature Link"/>
                        </a:rPr>
                        <a:t>Springer Nature Link</a:t>
                      </a:r>
                      <a:r>
                        <a:rPr lang="en-US" sz="1200" b="1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318294"/>
                  </a:ext>
                </a:extLst>
              </a:tr>
              <a:tr h="556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4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Ananya Bhat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A Survey on Phishing URL Detection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IJNTI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ML (RF, SVM, CNN, LSTM)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accuracy (90–98%)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Blacklist limitations, feature engineering dependency (</a:t>
                      </a:r>
                      <a:r>
                        <a:rPr lang="en-US" sz="1200" b="1">
                          <a:hlinkClick r:id="rId5" tooltip="A Survey on Phishing URL Detection | INTERNATIONAL JOURNAL OF NOVEL TRENDS AND INNOVATION"/>
                        </a:rPr>
                        <a:t>RJPN Research Journal</a:t>
                      </a:r>
                      <a:r>
                        <a:rPr lang="en-US" sz="1200" b="1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164991"/>
                  </a:ext>
                </a:extLst>
              </a:tr>
              <a:tr h="556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5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Lizhen Tang &amp; Qusay Mahmoud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ML-Based Solutions for Phishing Website Detection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MDPI Journal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Machine Learning (SVM, RF, NN)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Accurate classification models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Cannot detect zero-day phishing URLs (</a:t>
                      </a:r>
                      <a:r>
                        <a:rPr lang="en-US" sz="1200" b="1">
                          <a:hlinkClick r:id="rId6" tooltip="A Survey of Machine Learning-Based Solutions for Phishing Website Detection"/>
                        </a:rPr>
                        <a:t>MDPI</a:t>
                      </a:r>
                      <a:r>
                        <a:rPr lang="en-US" sz="1200" b="1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983106"/>
                  </a:ext>
                </a:extLst>
              </a:tr>
              <a:tr h="556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6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Rasha Zieni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Phishing or Not Phishing? Detection Survey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IEEE Access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Heuristic + ML + DL techniques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Improved detection rates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Lack of unified evaluation methods (</a:t>
                      </a:r>
                      <a:r>
                        <a:rPr lang="en-US" sz="1200" b="1">
                          <a:hlinkClick r:id="rId7" tooltip="Phishing or Not Phishing? A Survey on the Detection of Phishing Websites – DOAJ"/>
                        </a:rPr>
                        <a:t>DOAJ</a:t>
                      </a:r>
                      <a:r>
                        <a:rPr lang="en-US" sz="1200" b="1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112869"/>
                  </a:ext>
                </a:extLst>
              </a:tr>
              <a:tr h="38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7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Diya Saxena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Phishing URL Detection Using Machine Learning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IJSRST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ML-based classification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accuracy (~95%)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Overfitting and dataset bias issues (</a:t>
                      </a:r>
                      <a:r>
                        <a:rPr lang="en-US" sz="1200" b="1">
                          <a:hlinkClick r:id="rId8" tooltip="Phishing URL Detection Using Machine Learning | International Journal of Scientific Research in Science and Technology"/>
                        </a:rPr>
                        <a:t>IJSSRT</a:t>
                      </a:r>
                      <a:r>
                        <a:rPr lang="en-US" sz="1200" b="1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008308"/>
                  </a:ext>
                </a:extLst>
              </a:tr>
              <a:tr h="417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8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Sambare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2025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Phishing URL Detection: ML Approaches Survey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LNNS (Springer)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URL, Domain, HTML feature analysis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detection performance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Feature extraction complexity (</a:t>
                      </a:r>
                      <a:r>
                        <a:rPr lang="en-IN" sz="1200" b="1" dirty="0">
                          <a:hlinkClick r:id="rId9" tooltip="Phishing URL Detection: A Comprehensive Survey of Machine Learning Approaches"/>
                        </a:rPr>
                        <a:t>EurekaMag</a:t>
                      </a:r>
                      <a:r>
                        <a:rPr lang="en-IN" sz="1200" b="1" dirty="0"/>
                        <a:t>)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902984"/>
                  </a:ext>
                </a:extLst>
              </a:tr>
              <a:tr h="783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Y. Le et al.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Smart Phishing Detection using AI &amp; Feature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Elsevier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AI + Feature Selection +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High accuracy &amp; reduced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Dataset dependency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068907"/>
                  </a:ext>
                </a:extLst>
              </a:tr>
              <a:tr h="783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10</a:t>
                      </a:r>
                    </a:p>
                  </a:txBody>
                  <a:tcPr marL="35519" marR="35519" marT="17759" marB="177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R. Verma, N. 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Phishing Detection using NLP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ACM Conference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NLP +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Better text-based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Limited URL-only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8979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0FD321-CFF4-B20B-507A-2ABF921B5CBC}"/>
              </a:ext>
            </a:extLst>
          </p:cNvPr>
          <p:cNvSpPr txBox="1"/>
          <p:nvPr/>
        </p:nvSpPr>
        <p:spPr>
          <a:xfrm>
            <a:off x="2560782" y="143372"/>
            <a:ext cx="8615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Literature Survey (URL Phishing Detection)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664A0-4C40-B633-23F6-E8F7B17DD7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97894" y="7546683"/>
            <a:ext cx="1792097" cy="55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6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F1208B-01E1-9A25-06FC-D8922BC04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90383"/>
              </p:ext>
            </p:extLst>
          </p:nvPr>
        </p:nvGraphicFramePr>
        <p:xfrm>
          <a:off x="850740" y="859455"/>
          <a:ext cx="12928920" cy="6305272"/>
        </p:xfrm>
        <a:graphic>
          <a:graphicData uri="http://schemas.openxmlformats.org/drawingml/2006/table">
            <a:tbl>
              <a:tblPr/>
              <a:tblGrid>
                <a:gridCol w="1616115">
                  <a:extLst>
                    <a:ext uri="{9D8B030D-6E8A-4147-A177-3AD203B41FA5}">
                      <a16:colId xmlns:a16="http://schemas.microsoft.com/office/drawing/2014/main" val="2179455269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1707116633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3721907963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4126536077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1709218186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3337233389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2836643165"/>
                    </a:ext>
                  </a:extLst>
                </a:gridCol>
                <a:gridCol w="1616115">
                  <a:extLst>
                    <a:ext uri="{9D8B030D-6E8A-4147-A177-3AD203B41FA5}">
                      <a16:colId xmlns:a16="http://schemas.microsoft.com/office/drawing/2014/main" val="3250411500"/>
                    </a:ext>
                  </a:extLst>
                </a:gridCol>
              </a:tblGrid>
              <a:tr h="455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 err="1">
                          <a:solidFill>
                            <a:srgbClr val="FF0000"/>
                          </a:solidFill>
                        </a:rPr>
                        <a:t>S.No</a:t>
                      </a:r>
                      <a:endParaRPr lang="en-IN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Author(s)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Year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Paper Title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Journal / Conference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Method / Model Used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Reported Results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Key Limitation / Drawback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109735"/>
                  </a:ext>
                </a:extLst>
              </a:tr>
              <a:tr h="7791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11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Md. Redwan Ahmed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2024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Phishing URL Detection using Feature Extraction &amp; ML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IEEE Conference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Decision Tree, Feature Extraction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92%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computation &amp; feature dependency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30941"/>
                  </a:ext>
                </a:extLst>
              </a:tr>
              <a:tr h="6712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12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Mouad Zouina, B. Outtaj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2017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Lightweight URL Phishing Detection using SVM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Springer Journal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SVM + Similarity Index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93.8%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Limited for new phishing patterns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447351"/>
                  </a:ext>
                </a:extLst>
              </a:tr>
              <a:tr h="6712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13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Ali </a:t>
                      </a:r>
                      <a:r>
                        <a:rPr lang="en-IN" sz="1200" b="1" dirty="0" err="1"/>
                        <a:t>Aljofey</a:t>
                      </a:r>
                      <a:r>
                        <a:rPr lang="en-IN" sz="1200" b="1" dirty="0"/>
                        <a:t>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2022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Detection using URL and HTML Features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Scientific Reports (Nature)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ML + URL + HTML features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90%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Requires large dataset &amp; feature engineering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72541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14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Mehmet Korkmaz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2020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ML-Based URL Phishing Detection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ICCCNT Conference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Machine Learning Models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Effective classification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Cannot handle zero-day attacks well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630264"/>
                  </a:ext>
                </a:extLst>
              </a:tr>
              <a:tr h="455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15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Sultan Asiri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2023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Survey of Intelligent Phishing Detection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IEEE Access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ML, DL, Hybrid Models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90–94%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model complexity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546900"/>
                  </a:ext>
                </a:extLst>
              </a:tr>
              <a:tr h="455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16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Diya Saxena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2026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Phishing URL Detection using ML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IJSRST Journal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ML Classification Models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~93%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Dataset bias &amp; overfitting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751072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17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Wei Wei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2020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CNN-Based URL Phishing Detection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Sensors / Elsevier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Deep Learning (CNN)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Improved detection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High training time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10817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18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Sneha Baskota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2025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Phishing URL Detection using Bi-LSTM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Research Paper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Deep Learning (Bi-LSTM)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91%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Needs large dataset &amp; resources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068445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19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Zahra Ahmad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2021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Phishing Detection using Random Forest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IEEE Conference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Random Forest Classifier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96%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Needs feature selection, weak for zero-day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73738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20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200" b="1"/>
                        <a:t>Sahingoz O. K. et al.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2019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ML Based Phishing Detection using URLs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Elsevier Journal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NLP + ML (NB, SVM)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94% accuracy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Depends on dataset quality</a:t>
                      </a:r>
                    </a:p>
                  </a:txBody>
                  <a:tcPr marL="40791" marR="40791" marT="20396" marB="203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3140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8E2FFE-54CF-6848-4F00-ECCCB17B9F16}"/>
              </a:ext>
            </a:extLst>
          </p:cNvPr>
          <p:cNvSpPr txBox="1"/>
          <p:nvPr/>
        </p:nvSpPr>
        <p:spPr>
          <a:xfrm>
            <a:off x="3715472" y="216898"/>
            <a:ext cx="84842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Literature Survey (URL Phishing Detection)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69CCE-F107-1E98-4FEA-20E351FC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1063" y="7224917"/>
            <a:ext cx="3229337" cy="100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5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383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721644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phishing detection systems face significant challenges that limit their effectiveness: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2217301"/>
            <a:ext cx="424220" cy="4242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97079" y="228207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Blacklist Dependency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397079" y="2684145"/>
            <a:ext cx="1243953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Reliance on pre-existing lists limits detection of new, unknown threats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93790" y="3336488"/>
            <a:ext cx="424220" cy="4242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97079" y="3401258"/>
            <a:ext cx="251686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Real-Time Detection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397079" y="3803333"/>
            <a:ext cx="1243953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Delayed response times allow malicious links to compromise systems before detection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3790" y="4455676"/>
            <a:ext cx="424220" cy="4242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97079" y="452044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Low Accuracy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97079" y="4922520"/>
            <a:ext cx="1243953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false positive and false negative rates reduce user trust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3790" y="5574863"/>
            <a:ext cx="424220" cy="4242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97079" y="563963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Adaptive Learning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397079" y="6041707"/>
            <a:ext cx="1243953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Static systems cannot learn from new phishing techniques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3790" y="6694051"/>
            <a:ext cx="424220" cy="4242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97079" y="675882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Poor User Awareness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397079" y="7160895"/>
            <a:ext cx="1243953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feedback fails to educate users about potential threats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6E7F3CA-7887-24D8-1D2A-103AF569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921" y="7162651"/>
            <a:ext cx="3429479" cy="10669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9893" y="7791389"/>
            <a:ext cx="1705213" cy="4382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26750" y="333762"/>
            <a:ext cx="2640900" cy="682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600"/>
              </a:lnSpc>
            </a:pPr>
            <a:r>
              <a:rPr lang="en-US" sz="3900" b="1" dirty="0">
                <a:solidFill>
                  <a:srgbClr val="282824"/>
                </a:solidFill>
                <a:ea typeface="Lato Bold" pitchFamily="34" charset="-122"/>
                <a:cs typeface="Lato Bold" pitchFamily="34" charset="-120"/>
              </a:rPr>
              <a:t>Objectives</a:t>
            </a:r>
            <a:endParaRPr lang="en-US" sz="39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5B7EBE-6CA9-80BA-1540-AEE8F6A6E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036" y="1028209"/>
            <a:ext cx="49359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phishing URLs with high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real-time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false positives/negatives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user awareness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new unknown threats </a:t>
            </a:r>
          </a:p>
        </p:txBody>
      </p:sp>
    </p:spTree>
    <p:extLst>
      <p:ext uri="{BB962C8B-B14F-4D97-AF65-F5344CB8AC3E}">
        <p14:creationId xmlns:p14="http://schemas.microsoft.com/office/powerpoint/2010/main" val="119395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421"/>
            <a:ext cx="70486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Drawbacks of Existing Research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82334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0930" y="2482334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83588" y="27035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Limited Scope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132772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systems focus only on URL analysis without considering contextual factors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482334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91519" y="2482334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04177" y="2703552"/>
            <a:ext cx="27968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 Computational Cost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13277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Resource-intensive methods slow down browsing experience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187428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0930" y="4187428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83588" y="44086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Static Models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483786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algorithms cannot adapt to evolving phishing techniques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187428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91519" y="4187428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04177" y="44086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False Positives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4837867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Legitimate sites incorrectly flagged as malicious frustrate users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83588" y="622542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8079" y="5630823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50928" y="5630823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83588" y="57006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Scalability Issues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97875" y="6241494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Systems struggle to handle large volumes of URLs efficiently</a:t>
            </a:r>
            <a:endParaRPr lang="en-US" sz="15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9A976E-819C-DCAB-B5E8-A9F59BA4C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921" y="7162651"/>
            <a:ext cx="3429479" cy="1066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7193" y="7765988"/>
            <a:ext cx="1705213" cy="4382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34670" y="237262"/>
            <a:ext cx="4499950" cy="6902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850"/>
              </a:lnSpc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Proposed Solutions</a:t>
            </a:r>
            <a:endParaRPr lang="en-US" sz="39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26645" y="1302682"/>
            <a:ext cx="13716000" cy="604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IN" sz="2400" u="sng" dirty="0"/>
              <a:t>Core Functional Components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Intelligent Feature Extraction</a:t>
            </a:r>
            <a:r>
              <a:rPr lang="en-US" dirty="0"/>
              <a:t>: Automatically analyzes URL structures, domain information, and suspicious patterns to identify red flags.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ML-Based Classification</a:t>
            </a:r>
            <a:r>
              <a:rPr lang="en-US" dirty="0"/>
              <a:t>: Uses trained algorithms to differentiate between legitimate and fraudulent websites based on extracted features.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Real-Time Detection Engine</a:t>
            </a:r>
            <a:r>
              <a:rPr lang="en-US" dirty="0"/>
              <a:t>: Provides immediate feedback to the user, blocking malicious links before they can compromise sensitive data.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IN" sz="2400" u="sng" dirty="0"/>
              <a:t>Key Technical Advantages</a:t>
            </a:r>
          </a:p>
          <a:p>
            <a:endParaRPr lang="en-US" sz="2400" u="sng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High Accuracy</a:t>
            </a:r>
            <a:r>
              <a:rPr lang="en-US" dirty="0"/>
              <a:t>: Engineered to reduce both false positives (legitimate sites incorrectly flagged) and false negatives (undetected threats) through intelligent analysis.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Adaptive Security</a:t>
            </a:r>
            <a:r>
              <a:rPr lang="en-US" dirty="0"/>
              <a:t>: Unlike static systems, the AI-driven model improves its detection capabilities over time as it encounters new phishing techniques.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Scalable Architecture</a:t>
            </a:r>
            <a:r>
              <a:rPr lang="en-US" dirty="0"/>
              <a:t>: Designed to handle large volumes of URLs efficiently without significant computational costs or browsing delays.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US" sz="2400" u="sng" dirty="0"/>
              <a:t>Proposed Workflow</a:t>
            </a:r>
          </a:p>
          <a:p>
            <a:endParaRPr lang="en-US" sz="2400" u="sng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Input</a:t>
            </a:r>
            <a:r>
              <a:rPr lang="en-US" dirty="0"/>
              <a:t>: User enters or encounters a URL.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Analysis</a:t>
            </a:r>
            <a:r>
              <a:rPr lang="en-US" dirty="0"/>
              <a:t>: The system performs real-time feature extraction and processes it through the ML model.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Output</a:t>
            </a:r>
            <a:r>
              <a:rPr lang="en-US" dirty="0"/>
              <a:t>: Provides a security prediction and takes defensive action if a threat is detected.</a:t>
            </a:r>
          </a:p>
        </p:txBody>
      </p:sp>
    </p:spTree>
    <p:extLst>
      <p:ext uri="{BB962C8B-B14F-4D97-AF65-F5344CB8AC3E}">
        <p14:creationId xmlns:p14="http://schemas.microsoft.com/office/powerpoint/2010/main" val="415276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8F484-DC77-BDBA-A9D1-32C0A46C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923" y="7291818"/>
            <a:ext cx="1981477" cy="866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A2EF49-FE9F-E16F-003A-0ACCCDE02B88}"/>
              </a:ext>
            </a:extLst>
          </p:cNvPr>
          <p:cNvSpPr txBox="1"/>
          <p:nvPr/>
        </p:nvSpPr>
        <p:spPr>
          <a:xfrm>
            <a:off x="641022" y="433635"/>
            <a:ext cx="6174557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 </a:t>
            </a:r>
            <a:r>
              <a:rPr lang="en-IN" sz="2800" b="1" dirty="0"/>
              <a:t>Methodology</a:t>
            </a:r>
          </a:p>
          <a:p>
            <a:pPr lvl="1"/>
            <a:endParaRPr lang="en-IN" sz="2800" b="1" dirty="0"/>
          </a:p>
          <a:p>
            <a:pPr>
              <a:buNone/>
            </a:pPr>
            <a:r>
              <a:rPr lang="en-IN" b="1" dirty="0"/>
              <a:t>🔹 1. Data Collection</a:t>
            </a:r>
          </a:p>
          <a:p>
            <a:pPr>
              <a:buNone/>
            </a:pPr>
            <a:r>
              <a:rPr lang="en-IN" dirty="0"/>
              <a:t>Collect dataset of </a:t>
            </a:r>
            <a:r>
              <a:rPr lang="en-IN" b="1" dirty="0"/>
              <a:t>phishing and legitimate URLs</a:t>
            </a:r>
            <a:r>
              <a:rPr lang="en-IN" dirty="0"/>
              <a:t> from online sources (e.g., Kaggle, PhishTank).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2. Data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 duplicates and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Normalize URLs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Label data (Phishing = 1, Legitimate = 0)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🔹 3. Feature Extraction</a:t>
            </a:r>
          </a:p>
          <a:p>
            <a:pPr>
              <a:buNone/>
            </a:pPr>
            <a:r>
              <a:rPr lang="en-IN" dirty="0"/>
              <a:t>Extract important URL features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URL length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Presence of “@”, “-”, “//”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Domain age, IP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Number of subdomains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🔹 4. Model Training</a:t>
            </a:r>
          </a:p>
          <a:p>
            <a:pPr>
              <a:buNone/>
            </a:pPr>
            <a:r>
              <a:rPr lang="en-IN" dirty="0"/>
              <a:t>Train machine learning models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Random Forest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 Vector Machine (SVM)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Logistic Regression 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E8CE9-CD60-ACD1-3AE7-E9FB3AD03663}"/>
              </a:ext>
            </a:extLst>
          </p:cNvPr>
          <p:cNvSpPr txBox="1"/>
          <p:nvPr/>
        </p:nvSpPr>
        <p:spPr>
          <a:xfrm>
            <a:off x="7409467" y="320513"/>
            <a:ext cx="643850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5. Model Evaluation</a:t>
            </a:r>
          </a:p>
          <a:p>
            <a:pPr>
              <a:buNone/>
            </a:pPr>
            <a:r>
              <a:rPr lang="en-IN" dirty="0"/>
              <a:t>Evaluate performance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Recall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F1-score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6. Prediction System</a:t>
            </a:r>
          </a:p>
          <a:p>
            <a:pPr>
              <a:buNone/>
            </a:pPr>
            <a:r>
              <a:rPr lang="en-IN" dirty="0"/>
              <a:t>Deploy model to classify URLs as:</a:t>
            </a:r>
            <a:br>
              <a:rPr lang="en-IN" dirty="0"/>
            </a:br>
            <a:r>
              <a:rPr lang="en-IN" dirty="0"/>
              <a:t>👉 </a:t>
            </a:r>
            <a:r>
              <a:rPr lang="en-IN" b="1" dirty="0"/>
              <a:t>Phishing or Legitimate in real-time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699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7536"/>
            <a:ext cx="61749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Workflow / System Flow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225444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4546" y="346117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84187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46239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84187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Prediction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307" y="346239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84187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ML Model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3493" y="346239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65846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Extraction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3636" y="346239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84187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Input</a:t>
            </a:r>
            <a:endParaRPr lang="en-US" sz="2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FBF2D2-59EA-F27D-C298-CA46DBCA3B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0921" y="7162651"/>
            <a:ext cx="3429479" cy="10669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94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716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92148" y="321552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9" y="3379113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4009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Improved Detection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443841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ML-based approach identifies both known and emerging phishing threats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3017163"/>
            <a:ext cx="4215408" cy="2254687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05795" y="321552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9506" y="3379113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5795" y="4009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Higher Accuracy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4438412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false positives and negatives through intelligent analysis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301716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19561" y="321552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3272" y="3379113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19561" y="4009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Enhanced Security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443841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protection empowers users to browse safely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93790" y="549509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URLShield represents a significant advancement in phishing detection technology, combining machine learning with real-time analysis to provide robust protection against evolving cyber threats.</a:t>
            </a:r>
            <a:endParaRPr lang="en-US" sz="1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54EC79-88E5-43A7-A3E4-B7D73636B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0921" y="7162651"/>
            <a:ext cx="3429479" cy="10669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1469</Words>
  <Application>Microsoft Office PowerPoint</Application>
  <PresentationFormat>Custom</PresentationFormat>
  <Paragraphs>328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Lato</vt:lpstr>
      <vt:lpstr>Wingdings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Amol Satpale</cp:lastModifiedBy>
  <cp:revision>23</cp:revision>
  <dcterms:created xsi:type="dcterms:W3CDTF">2026-03-27T10:18:46Z</dcterms:created>
  <dcterms:modified xsi:type="dcterms:W3CDTF">2026-04-10T02:10:53Z</dcterms:modified>
</cp:coreProperties>
</file>