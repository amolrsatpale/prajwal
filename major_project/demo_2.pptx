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Lato" panose="020F0502020204030203" pitchFamily="34" charset="0"/>
      <p:regular r:id="rId14"/>
    </p:embeddedFont>
    <p:embeddedFont>
      <p:font typeface="Lato Bold" panose="020F0502020204030203" charset="0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8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946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1915" y="4114800"/>
            <a:ext cx="1094470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  Smart Phishing URL Detection System</a:t>
            </a:r>
            <a:endParaRPr lang="en-US" sz="3900" dirty="0"/>
          </a:p>
        </p:txBody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B7BE7F31-D639-126C-12D2-F3E0D8303A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632" y="239077"/>
            <a:ext cx="1111568" cy="10055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Image 2">
            <a:extLst>
              <a:ext uri="{FF2B5EF4-FFF2-40B4-BE49-F238E27FC236}">
                <a16:creationId xmlns:a16="http://schemas.microsoft.com/office/drawing/2014/main" id="{8B862FD3-1626-CECE-28DB-B0813161644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71500" y="239077"/>
            <a:ext cx="1112400" cy="1004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3D3A53D-2484-F470-D925-373B11A1B9AB}"/>
              </a:ext>
            </a:extLst>
          </p:cNvPr>
          <p:cNvSpPr/>
          <p:nvPr/>
        </p:nvSpPr>
        <p:spPr>
          <a:xfrm>
            <a:off x="2044700" y="557172"/>
            <a:ext cx="106107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VISVESVARAYA TECHNOLOGICAL UNIVERSITY, BELAGAVI</a:t>
            </a:r>
            <a:endParaRPr lang="en-IN" sz="3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86C151-3370-84F1-E2D9-B86CE936C74D}"/>
              </a:ext>
            </a:extLst>
          </p:cNvPr>
          <p:cNvSpPr/>
          <p:nvPr/>
        </p:nvSpPr>
        <p:spPr>
          <a:xfrm>
            <a:off x="2044698" y="1676401"/>
            <a:ext cx="106107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B.L.D.E.A’s V.P.DR.P.G.HALAKATTI COLLEGE OF ENGINEERING AND TECHNOLOGY,VIJAYAPUR-586103</a:t>
            </a:r>
            <a:endParaRPr lang="en-IN" sz="2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FF0ABD-A84E-6E2E-3A79-D16D1F104733}"/>
              </a:ext>
            </a:extLst>
          </p:cNvPr>
          <p:cNvSpPr/>
          <p:nvPr/>
        </p:nvSpPr>
        <p:spPr>
          <a:xfrm>
            <a:off x="4284563" y="2786558"/>
            <a:ext cx="62764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DEPARTMENT OF COMPUTER SCIENCE AND ENGINEERING </a:t>
            </a:r>
            <a:endParaRPr lang="en-IN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AC6D0B-E4A7-2EDD-68FC-9BF2842F9FC6}"/>
              </a:ext>
            </a:extLst>
          </p:cNvPr>
          <p:cNvSpPr txBox="1"/>
          <p:nvPr/>
        </p:nvSpPr>
        <p:spPr>
          <a:xfrm>
            <a:off x="511542" y="7122056"/>
            <a:ext cx="2402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Guide</a:t>
            </a:r>
          </a:p>
          <a:p>
            <a:pPr algn="ctr"/>
            <a:r>
              <a:rPr lang="en-IN" dirty="0"/>
              <a:t>Mrs. Anupama Inamdar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02265" y="5395929"/>
          <a:ext cx="6350000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/>
                        <a:t>Ahmadaraja</a:t>
                      </a:r>
                      <a:r>
                        <a:rPr lang="en-US" baseline="0" dirty="0"/>
                        <a:t> 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2BL24CS401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/>
                        <a:t>Amol  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2BL24CS402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/>
                        <a:t>Irfan 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2BL24CS406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D1A954F-3B42-FA4F-2CF4-F458001A13E6}"/>
              </a:ext>
            </a:extLst>
          </p:cNvPr>
          <p:cNvSpPr txBox="1"/>
          <p:nvPr/>
        </p:nvSpPr>
        <p:spPr>
          <a:xfrm flipH="1">
            <a:off x="5218768" y="3536618"/>
            <a:ext cx="440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PROJECT</a:t>
            </a:r>
            <a:r>
              <a:rPr lang="en-IN" b="1" dirty="0"/>
              <a:t> </a:t>
            </a:r>
            <a:r>
              <a:rPr lang="en-IN" sz="2000" b="1" dirty="0"/>
              <a:t>PHASE-II</a:t>
            </a:r>
            <a:r>
              <a:rPr lang="en-IN" sz="2000" dirty="0"/>
              <a:t> 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CCA099-16D6-FAAB-9420-C016FF0A2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1022" y="7376086"/>
            <a:ext cx="2080440" cy="853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0EEF9E6-A0E9-AC5D-2826-24CF825A63B4}"/>
              </a:ext>
            </a:extLst>
          </p:cNvPr>
          <p:cNvSpPr txBox="1"/>
          <p:nvPr/>
        </p:nvSpPr>
        <p:spPr>
          <a:xfrm>
            <a:off x="12908432" y="7122056"/>
            <a:ext cx="1412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Co-ordinator</a:t>
            </a:r>
          </a:p>
          <a:p>
            <a:pPr algn="ctr"/>
            <a:r>
              <a:rPr lang="en-US" dirty="0"/>
              <a:t>S.R.Patil</a:t>
            </a:r>
          </a:p>
          <a:p>
            <a:pPr algn="ctr"/>
            <a:r>
              <a:rPr lang="en-US" dirty="0"/>
              <a:t>Dakshayani. I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DFD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2606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Phishing URL Detection System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376892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Hybrid Deep Learning &amp; Machine Learning Approach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6280190" y="524303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web-based application combining CNN-BiLSTM neural networks with ensemble methods for automated phishing detection</a:t>
            </a: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ECF167-5418-101C-140E-E9C4C2560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1022" y="7364797"/>
            <a:ext cx="2080440" cy="8535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03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12745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 phishing URLs using hybrid ML/DL architecture with real-time prediction capabilities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912745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Problem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Growing threat of phishing attacks requires automated, scalable detection systems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Solution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52664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Web application with dual models: CNN-BiLSTM for pattern recognition and RF/DT for fast inference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Stack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526643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Flask backend, TensorFlow/Keras, Scikit-learn, HTML/CSS/JS frontend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5291BF-3A55-1412-F2D0-DCF9F8D18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1022" y="7319641"/>
            <a:ext cx="2080440" cy="8535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5DFD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69620"/>
            <a:ext cx="62328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Dataset &amp; Preprocessing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045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2626519"/>
            <a:ext cx="35015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OpenPhish feed (2500+ real phishing URLs)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Synthetic legitimate domains (2500 URLs)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Stratified train/validation/test split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1893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Cleaning Pipeline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5770483"/>
            <a:ext cx="35015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URL normalization and deduplication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Format validation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Character-level tokenization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2045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56321" y="2626519"/>
            <a:ext cx="35015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Character embeddings (VOCAB_SIZE: 256)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Statistical features (max length: 2048 chars)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URL structure analysis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8264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Preprocessing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856321" y="5407581"/>
            <a:ext cx="3501509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Vectorization and scaling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StandardScaler for DT/RF models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DFD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" y="601147"/>
            <a:ext cx="5270302" cy="7027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3042" y="608290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Architecture</a:t>
            </a:r>
            <a:endParaRPr lang="en-US" sz="4250" dirty="0"/>
          </a:p>
        </p:txBody>
      </p:sp>
      <p:sp>
        <p:nvSpPr>
          <p:cNvPr id="5" name="Shape 2"/>
          <p:cNvSpPr/>
          <p:nvPr/>
        </p:nvSpPr>
        <p:spPr>
          <a:xfrm>
            <a:off x="6243042" y="1593056"/>
            <a:ext cx="7630716" cy="2911078"/>
          </a:xfrm>
          <a:prstGeom prst="roundRect">
            <a:avLst>
              <a:gd name="adj" fmla="val 1114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73522" y="1623536"/>
            <a:ext cx="864751" cy="2850118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7" name="Text 4"/>
          <p:cNvSpPr/>
          <p:nvPr/>
        </p:nvSpPr>
        <p:spPr>
          <a:xfrm>
            <a:off x="6543794" y="2845951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7344251" y="1839635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CNN-BiLSTM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344251" y="2301002"/>
            <a:ext cx="628292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Character embedding → Conv1D (128 filters) → BiLSTM (64 units) → Dense layers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44251" y="3100149"/>
            <a:ext cx="6282928" cy="1157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Adam optimizer with learning rate scheduling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Dropout (0.4) and L2 regularization (1e-4)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Batch normalization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43042" y="4710113"/>
            <a:ext cx="7630716" cy="2911078"/>
          </a:xfrm>
          <a:prstGeom prst="roundRect">
            <a:avLst>
              <a:gd name="adj" fmla="val 1114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73522" y="4740593"/>
            <a:ext cx="864751" cy="2850118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3" name="Text 10"/>
          <p:cNvSpPr/>
          <p:nvPr/>
        </p:nvSpPr>
        <p:spPr>
          <a:xfrm>
            <a:off x="6543794" y="5963007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344251" y="4956691"/>
            <a:ext cx="376761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Random Forest &amp; Decision Tree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344251" y="5418058"/>
            <a:ext cx="628292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Statistical feature-based classification with hyperparameter tuning via grid search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344251" y="6217206"/>
            <a:ext cx="6282928" cy="1157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 inference for production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Interpretable decision paths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Ensemble benefits</a:t>
            </a:r>
            <a:endParaRPr lang="en-US" sz="1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1F8749-8C1B-79B5-E21B-DE74FB541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1022" y="7744778"/>
            <a:ext cx="2080440" cy="4848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3673"/>
            <a:ext cx="64108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Implementation Progress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89428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40%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1212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Completed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11642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 extraction, model architecture, Flask server, UI, prediction module, training pipelines, evaluation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089428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60%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31212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 Progress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611642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Hyperparameter tuning, real-time API deployment, inference optimization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677608"/>
            <a:ext cx="368974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Completed Components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93790" y="5647134"/>
            <a:ext cx="3978116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model/feature_extractor.py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model/architecture.py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app.py (Flask server)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templates/index.html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32928" y="5647134"/>
            <a:ext cx="3978116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static/css/style.css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static/js/app.js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fetch_urls.py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model/predict.py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872067" y="5647134"/>
            <a:ext cx="39781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model/train.py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model/train_rf.py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model/evaluate.py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6FF13A-B932-3F66-10B2-185CACAC7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1022" y="7364797"/>
            <a:ext cx="2080440" cy="853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4232" y="398264"/>
            <a:ext cx="3544133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Performance Metrics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3970139" y="1939885"/>
            <a:ext cx="1743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85%</a:t>
            </a:r>
            <a:endParaRPr lang="en-US" sz="2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806" y="1053822"/>
            <a:ext cx="2126456" cy="2126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55971" y="3304223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Accuracy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424232" y="3578781"/>
            <a:ext cx="483560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Overall correct classifications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6472" y="1939885"/>
            <a:ext cx="1743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88%</a:t>
            </a:r>
            <a:endParaRPr lang="en-US" sz="2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5138" y="1053822"/>
            <a:ext cx="2126456" cy="2126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02303" y="3304223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370564" y="3578781"/>
            <a:ext cx="483560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Proportion of true positives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970139" y="4861679"/>
            <a:ext cx="1743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83%</a:t>
            </a:r>
            <a:endParaRPr lang="en-US" sz="2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806" y="3975616"/>
            <a:ext cx="2126456" cy="2126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55971" y="6226016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Recall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2424232" y="6500574"/>
            <a:ext cx="483560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Phishing URL detection rate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916472" y="4861679"/>
            <a:ext cx="1743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85%</a:t>
            </a:r>
            <a:endParaRPr lang="en-US" sz="2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138" y="3975616"/>
            <a:ext cx="2126456" cy="2126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02303" y="6226016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F1-Score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7370564" y="6500574"/>
            <a:ext cx="4835604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Harmonic mean balance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424232" y="681775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Comparison Results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2424232" y="7216378"/>
            <a:ext cx="9781937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CNN-BiLSTM: Higher accuracy, slower inference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Random Forest: Faster predictions, interpretable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Ensemble: Optimal balance for production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B7FDFE9-904A-D759-DED8-2566523F4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49960" y="7376086"/>
            <a:ext cx="2080440" cy="8535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DFD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493758"/>
            <a:ext cx="65871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Web Application Features</a:t>
            </a:r>
            <a:endParaRPr lang="en-US" sz="4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190" y="2542699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0653" y="25426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Real-Time Interface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130653" y="3033117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Web-based UI for instant URL prediction with input validation and error handling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4212550"/>
            <a:ext cx="566976" cy="566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0653" y="421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REST API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130653" y="4702969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CORS-enabled /api/predict endpoint for integration with external systems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5882402"/>
            <a:ext cx="566976" cy="5669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30653" y="5882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Batch Prediction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130653" y="6372820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multiple URLs simultaneously for bulk analysis workflows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FB9D3B-A0C8-C700-9769-EA4FEF6307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49960" y="7230434"/>
            <a:ext cx="2080440" cy="8535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Persistence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773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Saved Components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29464"/>
            <a:ext cx="7604284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scaler_dt.json: Decision Tree preprocessor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scaler_rf.json: Random Forest scaler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weights with architecture definitions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Training configurations for reproducibility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457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Deployment Strategy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5897880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Serialized models enable rapid deployment across environments while maintaining consistent preprocessing pipelines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14507D-FE24-9C57-AB27-FA1F722AE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9960" y="7376086"/>
            <a:ext cx="2080440" cy="8535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591"/>
            <a:ext cx="66988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Conclusion &amp; Future Work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25998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Achievements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85048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Hybrid architecture implemented with 85%+ accuracy and real-time prediction capabilities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225998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85048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Ensemble methods, transfer learning from larger datasets, automated retraining pipeline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225998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Deployment Ready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85048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Production-grade API with validation, error handling, and batch processing support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9B85CF-751B-29B1-D945-EE64B3C002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49960" y="7376086"/>
            <a:ext cx="2080440" cy="8535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DFD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3054429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5" name="Text 2"/>
          <p:cNvSpPr/>
          <p:nvPr/>
        </p:nvSpPr>
        <p:spPr>
          <a:xfrm>
            <a:off x="6280190" y="48122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Questions and Discussion Welcome</a:t>
            </a: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E57CF7-A4B9-5F6E-A349-0933C62C2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9960" y="7304929"/>
            <a:ext cx="2080440" cy="8535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593</Words>
  <Application>Microsoft Office PowerPoint</Application>
  <PresentationFormat>Custom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Lato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Amol Satpale</dc:creator>
  <cp:lastModifiedBy>Amol Satpale</cp:lastModifiedBy>
  <cp:revision>2</cp:revision>
  <dcterms:created xsi:type="dcterms:W3CDTF">2026-05-01T15:54:56Z</dcterms:created>
  <dcterms:modified xsi:type="dcterms:W3CDTF">2026-05-01T16:10:58Z</dcterms:modified>
</cp:coreProperties>
</file>